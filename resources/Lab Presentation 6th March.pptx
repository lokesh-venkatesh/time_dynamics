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7" r:id="rId3"/>
    <p:sldId id="257" r:id="rId4"/>
    <p:sldId id="270" r:id="rId5"/>
    <p:sldId id="269" r:id="rId6"/>
    <p:sldId id="275" r:id="rId7"/>
    <p:sldId id="260" r:id="rId8"/>
    <p:sldId id="268" r:id="rId9"/>
    <p:sldId id="261" r:id="rId10"/>
    <p:sldId id="283" r:id="rId11"/>
    <p:sldId id="284" r:id="rId12"/>
    <p:sldId id="285" r:id="rId13"/>
    <p:sldId id="276" r:id="rId14"/>
    <p:sldId id="273" r:id="rId15"/>
    <p:sldId id="277" r:id="rId16"/>
    <p:sldId id="274" r:id="rId17"/>
    <p:sldId id="278" r:id="rId18"/>
    <p:sldId id="280" r:id="rId19"/>
    <p:sldId id="279" r:id="rId20"/>
    <p:sldId id="262" r:id="rId21"/>
    <p:sldId id="272" r:id="rId22"/>
    <p:sldId id="281" r:id="rId23"/>
    <p:sldId id="263" r:id="rId24"/>
    <p:sldId id="282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FFCC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828CE-44AD-4384-B0D8-C17A57283CC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B5865-8D46-4CEA-97A8-D73015E32F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83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C2D1-CB53-CBA4-FBF9-88C1B0CF8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3E5DE-136C-1294-DECF-C99D3FB91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32D1-F5A2-C35C-304C-5AABA1D1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4B85-0C22-4443-A33E-8EF2CFC8FE94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8586-61CA-04DA-61B8-882D7902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F2A5-CE79-B74B-072D-16BB6A77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8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A8BE-CB17-71FB-3201-6C16BE51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F618-E272-9FC4-BB1C-05972D0DD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61E1-8DEF-C8FE-A7BD-E1E24A5C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2A5A-1E11-4C3D-B22F-D6FD8EA76C05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3B3B-FF1F-CC5F-1EDE-45259FDD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0CE9-D39F-853D-D1E8-54278EB0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38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7B2E-1D17-5D42-FFBD-AD377DFC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CF42F-A67E-A862-6EB2-12C19B2ED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98AEB-BAD2-4DA2-B4BF-ED7F109D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6F4-C32F-4D06-9509-7D5CFF61241C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540E9-D317-DDC0-BC9D-6E2F9A65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14420-0AE9-A1DA-67FA-C64B5E15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00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0A76-6176-BCA9-0C71-8D7FCFA8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8F6DC-0466-C716-230A-915E74EA2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55927-C58F-D2A6-55C7-AB981817B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B58FC-58C6-67A7-C520-36B361A5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A192-127C-43CC-9F4B-D9109F63147F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7F07A-F805-C37E-9128-9BEA96B6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ABD1E-B408-173D-BD17-C934913F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617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71E7-5202-6595-167C-75E703E7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94358-5392-8701-381A-A0633E47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92534-EEC3-64C3-6B98-A769F6C01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61D92-BB3F-8FA8-875F-E520356CA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97C1B-4688-774B-BA1A-155394049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AC31B-1E36-335E-0EC7-D82FA685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C5A5-8205-4FC1-A9D1-8D14EB2587F4}" type="datetime1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9406D-4061-068E-F941-2F65D0FE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89620-C900-2353-9996-48128962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16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B831-D682-DD44-A209-A5B6FEDE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5B093-CA3D-7C64-BB14-B974ED0B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92CFE-AD6D-4284-BC0F-E21C7BA43A32}" type="datetime1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ABA0E-51F2-DC88-8E2C-1D1637D7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82D6A-C221-BD2B-9BCA-EC6FF4C3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91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AFAFB-C1A1-290F-CEEB-129FECC8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0538D-EE5B-405B-93D7-EB21B5D40BD1}" type="datetime1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56283-36D5-456C-0BBF-A204F5C1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7D19-EDC4-46D2-6AC0-AA2B7024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1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1FE4-1BAE-F2A6-A8EA-43618BCB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0F02-8FD6-01A4-5A20-038B7DCA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4EBF3-FEB6-C070-6CAF-F8282454B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786C5-886E-4947-BC49-86FED70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9642-143A-47FC-BA5D-7B757BF7320A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5B8C1-4883-AABE-CA5B-270EE084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5686B-5C77-C0B3-3531-07F62C7D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81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0E2E-39D2-3AE9-145B-7524675F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B99B8-F637-BDA9-B013-ED073A94C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D1DF7-A548-05EB-DA3C-981CB1F8F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DF8A9-44AE-7497-E292-67829621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D6259-91BD-43C9-8C4B-AC5731C6FB9E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676EA-EBFC-C668-ABA0-9942273A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BC1D8-0AB7-B275-D45A-561E98AB5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78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773F-A589-F69D-9877-885BA046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48CFD-1299-D80D-01E3-80B1C2F47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5E7B3-3A36-A262-DFB5-A43B3301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7772-5D46-42BA-A11E-417E36235FF0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DED15-1007-E89F-6308-6A2B158C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6F122-D86E-6CB5-2B96-945D7DCC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3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08A00-780D-2659-E940-48E0CE594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299D9-0359-3306-555B-BC077BA1C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F733-2CF5-0D07-85F5-894CE8FE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5AD11-D39B-4C49-A0B0-1EC6CE8871EF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74C11-7BCB-0AC1-E4CF-CDA1A85C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934AF-0336-6A1A-BFEF-63AC3590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90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4F915-DFFA-2C88-0395-FFE18456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96A35-0AE1-4AF4-8E13-37D96C721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F08A4-48A6-E48F-8990-3B456C49D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0AA2E-E91A-40AF-AB2D-D7C455C5F57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12F75-A565-976A-F9A3-87210421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8715D-137A-3095-FD55-D4BB34E88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12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F7EC-6F42-275C-B845-D03B681E5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Semester Project Work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404A7-E387-CB4A-9A0E-9EDB68354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Lokesh Venkatesh</a:t>
            </a:r>
            <a:endParaRPr lang="en-IN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5CF04-E092-B666-D2FE-98817105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471-CC07-4058-B46C-9D7059C1FD75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0C59-B4FB-0201-8FC4-B1B99103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Ganguli &amp; Sarkar, 2018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C5FAE-CE72-19E0-2F79-00FDCA50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3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D5770F-5629-A6D9-5B6B-23337C1F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9188"/>
            <a:ext cx="12192000" cy="253962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9760C0-8702-C450-BF3D-B36F1922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BEF3-64AE-423A-845B-8231B779A0F4}" type="datetime1">
              <a:rPr lang="en-IN" smtClean="0"/>
              <a:t>06-03-2026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04B252-A0EC-1D0C-E512-5BF5EC11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52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C9C9-C748-F243-3E41-8D21BBBE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189"/>
            <a:ext cx="10515600" cy="1325563"/>
          </a:xfrm>
        </p:spPr>
        <p:txBody>
          <a:bodyPr/>
          <a:lstStyle/>
          <a:p>
            <a:r>
              <a:rPr lang="en-US" dirty="0"/>
              <a:t>Modelling TIME interactions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F352A-095D-AB56-AF05-A61021D2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6DF6-510F-4B05-A1C1-9649C852E344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6A1C-D93E-1294-F490-CC60D396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3</a:t>
            </a:fld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BC39DC-C60C-1C3B-59AB-C9F5B696E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307" y="1555820"/>
            <a:ext cx="6316985" cy="4599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0DE1F3-64BC-6C05-C371-F8E519A03D70}"/>
              </a:ext>
            </a:extLst>
          </p:cNvPr>
          <p:cNvSpPr txBox="1"/>
          <p:nvPr/>
        </p:nvSpPr>
        <p:spPr>
          <a:xfrm>
            <a:off x="9308327" y="5862111"/>
            <a:ext cx="1347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 err="1"/>
              <a:t>Audrito</a:t>
            </a:r>
            <a:r>
              <a:rPr lang="en-IN" sz="700" b="1" dirty="0"/>
              <a:t> et al., 2019 – </a:t>
            </a:r>
            <a:r>
              <a:rPr lang="en-IN" sz="700" b="1" i="1" dirty="0"/>
              <a:t>Frontiers in Immunology`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195505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335E-B675-1A1E-D918-B083A34A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F5B0B7-99E2-DBF6-9669-0B6372EBD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845" y="0"/>
            <a:ext cx="773031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C9677-A635-662B-0519-AF63CA60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6DF6-510F-4B05-A1C1-9649C852E344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5CD20-7E88-3839-B525-9EDC62D2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4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5ADBC5-449C-21AD-A758-6001F9AE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601" y="0"/>
            <a:ext cx="1409897" cy="1590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445C6E-B9B4-2AAD-42A0-ADB8451B9758}"/>
              </a:ext>
            </a:extLst>
          </p:cNvPr>
          <p:cNvSpPr txBox="1"/>
          <p:nvPr/>
        </p:nvSpPr>
        <p:spPr>
          <a:xfrm>
            <a:off x="9423346" y="5962616"/>
            <a:ext cx="1347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Ganguli &amp; Sarkar, 2018 – </a:t>
            </a:r>
            <a:r>
              <a:rPr lang="en-IN" sz="700" b="1" i="1" dirty="0"/>
              <a:t>PLOS ONE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370572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023FF-B9FA-69C5-0147-3E837141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62390-C525-8A14-132C-B1846C16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5</a:t>
            </a:fld>
            <a:endParaRPr lang="en-IN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8F393E51-8651-FFFB-8C60-D0EC986A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4BC23-0386-CBC1-9001-8022A801558C}"/>
              </a:ext>
            </a:extLst>
          </p:cNvPr>
          <p:cNvSpPr/>
          <p:nvPr/>
        </p:nvSpPr>
        <p:spPr>
          <a:xfrm>
            <a:off x="1102098" y="148453"/>
            <a:ext cx="306051" cy="454003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48B68-DD75-4539-CA3D-457C90DF540E}"/>
              </a:ext>
            </a:extLst>
          </p:cNvPr>
          <p:cNvSpPr/>
          <p:nvPr/>
        </p:nvSpPr>
        <p:spPr>
          <a:xfrm>
            <a:off x="1126144" y="674358"/>
            <a:ext cx="373684" cy="462889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8A4DC-56E8-111E-EB55-28595BDE26D4}"/>
              </a:ext>
            </a:extLst>
          </p:cNvPr>
          <p:cNvSpPr/>
          <p:nvPr/>
        </p:nvSpPr>
        <p:spPr>
          <a:xfrm>
            <a:off x="1111826" y="1212191"/>
            <a:ext cx="314407" cy="45984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F8573C-13A1-2F14-54EB-C359039D86FF}"/>
              </a:ext>
            </a:extLst>
          </p:cNvPr>
          <p:cNvSpPr/>
          <p:nvPr/>
        </p:nvSpPr>
        <p:spPr>
          <a:xfrm>
            <a:off x="1111826" y="1750024"/>
            <a:ext cx="431089" cy="456805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221FD5-121A-5846-86C1-0C77F4F2D451}"/>
              </a:ext>
            </a:extLst>
          </p:cNvPr>
          <p:cNvSpPr/>
          <p:nvPr/>
        </p:nvSpPr>
        <p:spPr>
          <a:xfrm>
            <a:off x="1126143" y="4286968"/>
            <a:ext cx="373685" cy="435159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6F4519-0A63-E117-AE2D-1CFD1DAA4EF7}"/>
              </a:ext>
            </a:extLst>
          </p:cNvPr>
          <p:cNvSpPr/>
          <p:nvPr/>
        </p:nvSpPr>
        <p:spPr>
          <a:xfrm>
            <a:off x="1126143" y="4814363"/>
            <a:ext cx="471307" cy="424682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3F2648-018E-CF76-FD48-83FB94108C8C}"/>
              </a:ext>
            </a:extLst>
          </p:cNvPr>
          <p:cNvSpPr/>
          <p:nvPr/>
        </p:nvSpPr>
        <p:spPr>
          <a:xfrm>
            <a:off x="1126143" y="6258923"/>
            <a:ext cx="411254" cy="440724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69F5F7-619D-7D7D-EEEC-946C9F93CAEB}"/>
              </a:ext>
            </a:extLst>
          </p:cNvPr>
          <p:cNvSpPr/>
          <p:nvPr/>
        </p:nvSpPr>
        <p:spPr>
          <a:xfrm>
            <a:off x="1126143" y="3778574"/>
            <a:ext cx="456061" cy="453686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40B80E-B528-4566-2DF9-8595D78050FB}"/>
              </a:ext>
            </a:extLst>
          </p:cNvPr>
          <p:cNvSpPr/>
          <p:nvPr/>
        </p:nvSpPr>
        <p:spPr>
          <a:xfrm>
            <a:off x="1126144" y="2790825"/>
            <a:ext cx="401525" cy="452958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8AEC78-9CCD-6D1C-40CF-74A465B0DCB6}"/>
              </a:ext>
            </a:extLst>
          </p:cNvPr>
          <p:cNvSpPr/>
          <p:nvPr/>
        </p:nvSpPr>
        <p:spPr>
          <a:xfrm>
            <a:off x="1111826" y="2253501"/>
            <a:ext cx="425571" cy="47520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C5BD46-7846-161A-9DB2-B9BC4BAB6899}"/>
              </a:ext>
            </a:extLst>
          </p:cNvPr>
          <p:cNvSpPr/>
          <p:nvPr/>
        </p:nvSpPr>
        <p:spPr>
          <a:xfrm>
            <a:off x="1126144" y="3298141"/>
            <a:ext cx="456061" cy="424681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314826-3727-36F2-E290-78A880FCA110}"/>
              </a:ext>
            </a:extLst>
          </p:cNvPr>
          <p:cNvSpPr/>
          <p:nvPr/>
        </p:nvSpPr>
        <p:spPr>
          <a:xfrm>
            <a:off x="1126145" y="5317837"/>
            <a:ext cx="518107" cy="45193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3BF009-E7CE-8714-D931-BC5B0B5D768E}"/>
              </a:ext>
            </a:extLst>
          </p:cNvPr>
          <p:cNvSpPr/>
          <p:nvPr/>
        </p:nvSpPr>
        <p:spPr>
          <a:xfrm>
            <a:off x="1126145" y="5799595"/>
            <a:ext cx="569306" cy="42950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2FD7BD-BF57-EE62-11C6-B3DF1F5F2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9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F658-98C1-2BF2-0704-797EFAD1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22D3-426E-748F-2433-20EF0E69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6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3C1B51-5C21-83A8-E5AE-2A549CE6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62C1D0C3-B2D9-2E27-8F48-32629F2A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7D997-2AC8-6AE7-F246-D1E5001E7B0B}"/>
              </a:ext>
            </a:extLst>
          </p:cNvPr>
          <p:cNvSpPr/>
          <p:nvPr/>
        </p:nvSpPr>
        <p:spPr>
          <a:xfrm>
            <a:off x="2724150" y="5417820"/>
            <a:ext cx="407670" cy="32766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B3735-2F8B-C9B9-ED3F-17FA612B5143}"/>
              </a:ext>
            </a:extLst>
          </p:cNvPr>
          <p:cNvSpPr/>
          <p:nvPr/>
        </p:nvSpPr>
        <p:spPr>
          <a:xfrm>
            <a:off x="3967163" y="5860733"/>
            <a:ext cx="407670" cy="32766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88158B-DD34-15BD-9C1F-1C9B622DF224}"/>
              </a:ext>
            </a:extLst>
          </p:cNvPr>
          <p:cNvSpPr/>
          <p:nvPr/>
        </p:nvSpPr>
        <p:spPr>
          <a:xfrm>
            <a:off x="5495925" y="1307783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0E92FD-3A23-1F1C-8A41-959FF9A0BF2C}"/>
              </a:ext>
            </a:extLst>
          </p:cNvPr>
          <p:cNvSpPr/>
          <p:nvPr/>
        </p:nvSpPr>
        <p:spPr>
          <a:xfrm>
            <a:off x="6505575" y="4370070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663496-48E1-2C1B-4F51-34AD3CFB4A36}"/>
              </a:ext>
            </a:extLst>
          </p:cNvPr>
          <p:cNvSpPr/>
          <p:nvPr/>
        </p:nvSpPr>
        <p:spPr>
          <a:xfrm>
            <a:off x="1624012" y="1307783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3FB4DF-A53C-A62D-C242-1BFA02007957}"/>
              </a:ext>
            </a:extLst>
          </p:cNvPr>
          <p:cNvSpPr/>
          <p:nvPr/>
        </p:nvSpPr>
        <p:spPr>
          <a:xfrm>
            <a:off x="7734300" y="1451610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900A15-FB0E-1275-6803-AE38E3FDE849}"/>
              </a:ext>
            </a:extLst>
          </p:cNvPr>
          <p:cNvSpPr/>
          <p:nvPr/>
        </p:nvSpPr>
        <p:spPr>
          <a:xfrm>
            <a:off x="9218622" y="1451609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93796F-A536-7A8C-60E4-A42FB9E83D2C}"/>
              </a:ext>
            </a:extLst>
          </p:cNvPr>
          <p:cNvSpPr/>
          <p:nvPr/>
        </p:nvSpPr>
        <p:spPr>
          <a:xfrm>
            <a:off x="9256722" y="1985009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42EF5-23DA-B46C-B41A-098885F6B4BE}"/>
              </a:ext>
            </a:extLst>
          </p:cNvPr>
          <p:cNvSpPr/>
          <p:nvPr/>
        </p:nvSpPr>
        <p:spPr>
          <a:xfrm>
            <a:off x="7699384" y="1985008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noFill/>
              </a:rPr>
              <a:t>`</a:t>
            </a:r>
            <a:endParaRPr lang="en-IN" dirty="0">
              <a:noFill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CFC57-5B1E-F93F-F429-6A4C50EEE479}"/>
              </a:ext>
            </a:extLst>
          </p:cNvPr>
          <p:cNvSpPr txBox="1"/>
          <p:nvPr/>
        </p:nvSpPr>
        <p:spPr>
          <a:xfrm>
            <a:off x="7316809" y="2583444"/>
            <a:ext cx="3733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Parameters that were estimated using MCMC-DRAM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02548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4A19-AFDE-6AFD-FB94-6A76D93D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</a:t>
            </a:r>
            <a:r>
              <a:rPr lang="en-US" strike="sngStrike" dirty="0"/>
              <a:t>(random)</a:t>
            </a:r>
            <a:r>
              <a:rPr lang="en-US" dirty="0"/>
              <a:t> biological details (?)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DF7F-E90D-006F-F0A4-DE450CF6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Differentiation (p1 and p2)</a:t>
            </a:r>
          </a:p>
          <a:p>
            <a:r>
              <a:rPr lang="en-US" dirty="0"/>
              <a:t>Temporal evolution for different parameters</a:t>
            </a:r>
          </a:p>
          <a:p>
            <a:r>
              <a:rPr lang="en-US" dirty="0"/>
              <a:t>Role of the TH1/TH2 ratio</a:t>
            </a:r>
          </a:p>
          <a:p>
            <a:r>
              <a:rPr lang="en-US" dirty="0"/>
              <a:t>Equilibrium state </a:t>
            </a:r>
            <a:r>
              <a:rPr lang="en-US" dirty="0" err="1"/>
              <a:t>tumour</a:t>
            </a:r>
            <a:r>
              <a:rPr lang="en-US" dirty="0"/>
              <a:t> size versus oscillatory dynamics</a:t>
            </a:r>
          </a:p>
          <a:p>
            <a:r>
              <a:rPr lang="en-US" dirty="0"/>
              <a:t>Difference between regular versus resistant cells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00990-6215-2DE7-A796-C4D682F9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E92C-1DE3-4114-A170-E5A52FE374F3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7A10-CE66-D08E-6286-05E1A1EE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0BA1-06A6-8EB2-0689-D360334A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433"/>
            <a:ext cx="10515600" cy="1325563"/>
          </a:xfrm>
        </p:spPr>
        <p:txBody>
          <a:bodyPr/>
          <a:lstStyle/>
          <a:p>
            <a:r>
              <a:rPr lang="en-US" dirty="0"/>
              <a:t>Tools/Methods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6955B6-5B28-BE52-2378-2AF8D97EE3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Form of the model: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main aspects of this model that this study explores are the parameters,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and the control variables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13 system variables, 71 parameters: </a:t>
                </a:r>
                <a:br>
                  <a:rPr lang="en-US" dirty="0"/>
                </a:br>
                <a:r>
                  <a:rPr lang="en-US" dirty="0"/>
                  <a:t>fixed initial conditions,</a:t>
                </a:r>
                <a:br>
                  <a:rPr lang="en-US" dirty="0"/>
                </a:br>
                <a:r>
                  <a:rPr lang="en-US" dirty="0"/>
                  <a:t>5 control variables (designed, then introduced).</a:t>
                </a:r>
              </a:p>
              <a:p>
                <a:r>
                  <a:rPr lang="en-IN" dirty="0"/>
                  <a:t>Unknown parameters estimated using MCMC-DRAM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6955B6-5B28-BE52-2378-2AF8D97EE3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1793-2BDC-0C42-50B3-87EB152F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2A5A-1E11-4C3D-B22F-D6FD8EA76C05}" type="datetime1">
              <a:rPr lang="en-IN" smtClean="0"/>
              <a:t>06-03-2026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54BED-0489-7EE1-4428-38B7C235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5546F7A2-820D-8A5F-40ED-B0635FCE0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736" y="2398938"/>
            <a:ext cx="5332527" cy="75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>
            <a:extLst>
              <a:ext uri="{FF2B5EF4-FFF2-40B4-BE49-F238E27FC236}">
                <a16:creationId xmlns:a16="http://schemas.microsoft.com/office/drawing/2014/main" id="{13973A10-A5C1-DFE5-6FFF-9F7E805F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330" y="4288972"/>
            <a:ext cx="3686118" cy="41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25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497-0A67-474E-BC02-9D2DBACD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run with default parameters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4951C-1913-1ED1-4205-97FC93F2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1C96D-6175-894A-32FA-A5AD64CA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E7C3-0820-0D34-1A20-214D44C2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96A412-630C-555A-2D63-76C6D403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456" y="1690688"/>
            <a:ext cx="5975087" cy="426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6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D2E9-9205-B984-66B6-D907F8F1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052E1E-EC25-6000-4883-EC102B03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94" y="155575"/>
            <a:ext cx="8877211" cy="634086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305D4-AB33-630B-248C-6C4E5182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E87E2-5898-9C2F-54BC-8EB4E4EC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C32AF-27FF-8B91-29AD-4616F0BC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4D7962-D48C-E572-9652-A438A8A7B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238" y="675069"/>
            <a:ext cx="3855505" cy="27539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FA185B1-7041-A520-D490-5EF4635B9497}"/>
              </a:ext>
            </a:extLst>
          </p:cNvPr>
          <p:cNvSpPr/>
          <p:nvPr/>
        </p:nvSpPr>
        <p:spPr>
          <a:xfrm>
            <a:off x="3381375" y="2846717"/>
            <a:ext cx="3301221" cy="419819"/>
          </a:xfrm>
          <a:prstGeom prst="rect">
            <a:avLst/>
          </a:prstGeom>
          <a:noFill/>
          <a:ln w="3175"/>
          <a:effectLst>
            <a:glow rad="88900">
              <a:srgbClr val="C0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71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3FA4-8EA9-9032-A954-02EB53D0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C9B069-8449-F276-715C-D53B4EF5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61" y="0"/>
            <a:ext cx="9093077" cy="649505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1B0D0-09EC-0578-5D4B-3CDE87CE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BA3AF-32CA-D136-9EC8-F3B57C35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98184-0A2F-1888-DB9F-778FB0B4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27589-7531-5AE0-C2C2-AB067211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895" y="755582"/>
            <a:ext cx="3855505" cy="27539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2D09C4-310F-F9B9-B623-FB165CB2C69E}"/>
              </a:ext>
            </a:extLst>
          </p:cNvPr>
          <p:cNvSpPr/>
          <p:nvPr/>
        </p:nvSpPr>
        <p:spPr>
          <a:xfrm>
            <a:off x="4711700" y="2994025"/>
            <a:ext cx="479425" cy="272511"/>
          </a:xfrm>
          <a:prstGeom prst="rect">
            <a:avLst/>
          </a:prstGeom>
          <a:noFill/>
          <a:ln w="3175"/>
          <a:effectLst>
            <a:glow rad="88900">
              <a:srgbClr val="C0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7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C26D-87FC-C984-B903-1DBBAB1B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E8BA4-F943-F602-C142-BEF894D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961" y="246731"/>
            <a:ext cx="8720077" cy="622862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507EE-33A3-FF4C-A960-13FAAC0E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1352C-4189-96AF-75DE-F675E73C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7BFC-374D-2529-C60C-5FCB1D75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67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6AEC-3249-C532-6B00-3A91984C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DE2C-6986-A6C8-646A-3BD283F8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population ratios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ABB05-F65F-9F92-5D04-58D17E94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6DFC-AEA8-04A1-F916-1E69008F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80697-340E-7596-BCB7-184794E9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13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7C8DB4-8E87-FFD6-8C2A-A2B03CA8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72152"/>
            <a:ext cx="7620000" cy="4762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CA8FD12-A729-6321-89E1-1D99622D4AAC}"/>
              </a:ext>
            </a:extLst>
          </p:cNvPr>
          <p:cNvSpPr txBox="1"/>
          <p:nvPr/>
        </p:nvSpPr>
        <p:spPr>
          <a:xfrm>
            <a:off x="9906000" y="4779033"/>
            <a:ext cx="14923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CD4 = TH1 + TH2; </a:t>
            </a:r>
          </a:p>
          <a:p>
            <a:r>
              <a:rPr lang="en-US" sz="1050" b="1" dirty="0"/>
              <a:t>CD8 = Tc.</a:t>
            </a:r>
            <a:endParaRPr lang="en-IN" sz="10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EBEE2A-01F5-20E5-6B97-25534C582C36}"/>
              </a:ext>
            </a:extLst>
          </p:cNvPr>
          <p:cNvSpPr txBox="1"/>
          <p:nvPr/>
        </p:nvSpPr>
        <p:spPr>
          <a:xfrm>
            <a:off x="9906000" y="5437516"/>
            <a:ext cx="17511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TH1/TH2 threshold ~ 15</a:t>
            </a:r>
            <a:endParaRPr lang="en-IN" sz="1050" b="1" dirty="0"/>
          </a:p>
        </p:txBody>
      </p:sp>
    </p:spTree>
    <p:extLst>
      <p:ext uri="{BB962C8B-B14F-4D97-AF65-F5344CB8AC3E}">
        <p14:creationId xmlns:p14="http://schemas.microsoft.com/office/powerpoint/2010/main" val="429071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4A51-C97C-F9DA-E20E-3D64F3FB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9622E-574B-50B8-6642-AE396538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14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7AEF5E-591E-F082-B8A4-219199830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11AD6736-9C16-C6BA-EBE3-0F938BC6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FAD96E6-E920-A0F9-6897-EA94033AB0FF}"/>
              </a:ext>
            </a:extLst>
          </p:cNvPr>
          <p:cNvSpPr/>
          <p:nvPr/>
        </p:nvSpPr>
        <p:spPr>
          <a:xfrm>
            <a:off x="1944688" y="736121"/>
            <a:ext cx="1217612" cy="37662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A3ED55-3EF0-E83E-DBF6-D1A59B888319}"/>
              </a:ext>
            </a:extLst>
          </p:cNvPr>
          <p:cNvSpPr/>
          <p:nvPr/>
        </p:nvSpPr>
        <p:spPr>
          <a:xfrm>
            <a:off x="2532063" y="225904"/>
            <a:ext cx="1232918" cy="37662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DF4B22-4327-77C7-30BE-1458583869F0}"/>
              </a:ext>
            </a:extLst>
          </p:cNvPr>
          <p:cNvSpPr/>
          <p:nvPr/>
        </p:nvSpPr>
        <p:spPr>
          <a:xfrm>
            <a:off x="3764981" y="781680"/>
            <a:ext cx="316483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E0C788-CF1D-6FAF-D490-8DCAE0D8D974}"/>
              </a:ext>
            </a:extLst>
          </p:cNvPr>
          <p:cNvSpPr/>
          <p:nvPr/>
        </p:nvSpPr>
        <p:spPr>
          <a:xfrm>
            <a:off x="4507931" y="255033"/>
            <a:ext cx="316483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87E9F1-E061-F82D-0A92-E7D9F4B539A2}"/>
              </a:ext>
            </a:extLst>
          </p:cNvPr>
          <p:cNvSpPr/>
          <p:nvPr/>
        </p:nvSpPr>
        <p:spPr>
          <a:xfrm>
            <a:off x="4463481" y="1311905"/>
            <a:ext cx="699069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5C561A-0AD0-896C-3654-DC30F2762FCA}"/>
              </a:ext>
            </a:extLst>
          </p:cNvPr>
          <p:cNvSpPr/>
          <p:nvPr/>
        </p:nvSpPr>
        <p:spPr>
          <a:xfrm>
            <a:off x="5247706" y="711830"/>
            <a:ext cx="1246757" cy="42482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0518ED-9092-FEB7-A62D-5CA863F11D6A}"/>
              </a:ext>
            </a:extLst>
          </p:cNvPr>
          <p:cNvSpPr/>
          <p:nvPr/>
        </p:nvSpPr>
        <p:spPr>
          <a:xfrm>
            <a:off x="5617594" y="136525"/>
            <a:ext cx="316483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5FF12A-2949-194B-4CBA-B2222E2D3F1E}"/>
              </a:ext>
            </a:extLst>
          </p:cNvPr>
          <p:cNvSpPr/>
          <p:nvPr/>
        </p:nvSpPr>
        <p:spPr>
          <a:xfrm>
            <a:off x="4038600" y="1838552"/>
            <a:ext cx="699069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D284CE-FE60-0CC1-5FD2-54426548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774" y="2513677"/>
            <a:ext cx="1498962" cy="19393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93A9A2-BA52-A4AA-6053-A02DB7C15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1736" y="2489101"/>
            <a:ext cx="1446045" cy="33128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201730-3AA6-1A6B-3017-E4E1C3528A27}"/>
              </a:ext>
            </a:extLst>
          </p:cNvPr>
          <p:cNvSpPr txBox="1"/>
          <p:nvPr/>
        </p:nvSpPr>
        <p:spPr>
          <a:xfrm>
            <a:off x="6948714" y="2503615"/>
            <a:ext cx="1885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Cell division probabilities </a:t>
            </a:r>
            <a:br>
              <a:rPr lang="en-IN" sz="1100" b="1" dirty="0"/>
            </a:br>
            <a:r>
              <a:rPr lang="en-IN" sz="1100" b="1" dirty="0"/>
              <a:t>(and resulting cell types)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64684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6242F-20B7-DA6E-18CC-F463218C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FB8D-B726-A5AE-558E-D86BAED0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 of cellular differentiation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CB9C-2A24-70DA-898C-EA906CBD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6CF5-BD73-0D69-6490-647F4B15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35A1-5E90-7F91-71CE-65B40244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67273-0389-BA08-A804-8C64E295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0" y="2402458"/>
            <a:ext cx="2723932" cy="2053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33075B-AA65-F008-A8EF-B8B4FD518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473" y="2395195"/>
            <a:ext cx="2723932" cy="20530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912994-3B8A-CC55-4759-9515D65ED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795" y="2395194"/>
            <a:ext cx="2723932" cy="2053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6A06C33-8059-6E8E-A195-A8F45A87C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634" y="2402458"/>
            <a:ext cx="2723932" cy="20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36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8911-476B-7AD1-DD44-F0FE6BC5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7525-DD22-05E6-3619-D157786B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16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C012FD-CCC8-F438-7AE2-550EBDF6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196F98E6-3973-16A0-C457-2F3DAD70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0B6710-8476-6D01-EDA2-939D837AF0B9}"/>
              </a:ext>
            </a:extLst>
          </p:cNvPr>
          <p:cNvSpPr/>
          <p:nvPr/>
        </p:nvSpPr>
        <p:spPr>
          <a:xfrm>
            <a:off x="1785646" y="2377724"/>
            <a:ext cx="350806" cy="333495"/>
          </a:xfrm>
          <a:prstGeom prst="ellipse">
            <a:avLst/>
          </a:prstGeom>
          <a:noFill/>
          <a:ln>
            <a:solidFill>
              <a:srgbClr val="92D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FBAED2-5155-7F7E-4101-50A34F1ACA56}"/>
              </a:ext>
            </a:extLst>
          </p:cNvPr>
          <p:cNvSpPr/>
          <p:nvPr/>
        </p:nvSpPr>
        <p:spPr>
          <a:xfrm>
            <a:off x="4338346" y="3262252"/>
            <a:ext cx="762292" cy="333495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7030A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FB0ED-819E-28E5-21AD-A523AB0A0F04}"/>
              </a:ext>
            </a:extLst>
          </p:cNvPr>
          <p:cNvSpPr/>
          <p:nvPr/>
        </p:nvSpPr>
        <p:spPr>
          <a:xfrm>
            <a:off x="1785646" y="2886525"/>
            <a:ext cx="350806" cy="333495"/>
          </a:xfrm>
          <a:prstGeom prst="ellipse">
            <a:avLst/>
          </a:prstGeom>
          <a:noFill/>
          <a:ln>
            <a:solidFill>
              <a:srgbClr val="92D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8BCFC6-86F7-E133-A79E-7ACF2F479108}"/>
              </a:ext>
            </a:extLst>
          </p:cNvPr>
          <p:cNvSpPr/>
          <p:nvPr/>
        </p:nvSpPr>
        <p:spPr>
          <a:xfrm>
            <a:off x="1886309" y="5837208"/>
            <a:ext cx="839637" cy="408317"/>
          </a:xfrm>
          <a:prstGeom prst="ellipse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D4CCE-5CAF-9FAF-FD0F-6CD67B32F72F}"/>
              </a:ext>
            </a:extLst>
          </p:cNvPr>
          <p:cNvSpPr txBox="1"/>
          <p:nvPr/>
        </p:nvSpPr>
        <p:spPr>
          <a:xfrm>
            <a:off x="9007686" y="4075074"/>
            <a:ext cx="2201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Other parameters of interest</a:t>
            </a:r>
            <a:endParaRPr lang="en-IN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6F7758-944B-DBCC-6F50-96A8DD3B1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392" y="2410309"/>
            <a:ext cx="4001658" cy="16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42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61DF-EF17-7F98-A1CB-DE1FF6FD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66CD-9227-58E9-5B33-899665DF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macrophage populations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09AB-A135-83B1-C00D-2B3C0805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6C75E-F77B-EB8B-93C9-E9D1BAA4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A1195-A6F4-8434-D33D-1A067F54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17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D356A9-996C-17D6-B4A9-40437A0E9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80" y="2378854"/>
            <a:ext cx="2723933" cy="20530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F7D71A-9E11-4A20-DF75-5BDFD271E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40" y="2378854"/>
            <a:ext cx="2723933" cy="20530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40ABAD-7E0D-806B-924B-5B3655657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78854"/>
            <a:ext cx="2786560" cy="21002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4BE1B8-6312-A688-634C-D3DECC5B0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187" y="2402455"/>
            <a:ext cx="2723933" cy="205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5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4222-4253-70F1-FE19-DA4B16E5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6530C0-ADFB-D3B4-B275-B4BF23C1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7" y="1308810"/>
            <a:ext cx="7257691" cy="5184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705274-1F0B-5517-9937-8CE81C8321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Oscillations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705274-1F0B-5517-9937-8CE81C832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3E42-6AE8-B827-6DE6-42CA7CC4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F5DE6-D253-9701-41B2-9DEEDE56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22D45-8125-73AA-7073-49193303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18</a:t>
            </a:fld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6A9E9D-4472-7BD6-719E-F95D77D26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261" y="149974"/>
            <a:ext cx="3697712" cy="30814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2FF588-3E38-E6FB-C8BA-848EDEB78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977" y="3184450"/>
            <a:ext cx="3806280" cy="31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1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792A-7A8E-2024-3596-EFB25B1F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0119B3-FD4B-713A-06B7-59D401EF1C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varying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0119B3-FD4B-713A-06B7-59D401EF1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4163-C4F8-890D-2031-CCD87EBC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99914-66F4-4E38-D7AF-2AB184CA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96DD-603C-A728-D325-A9447CBDD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19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488AA2-B7A0-6BEE-C7D5-A201162BE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29" y="1522150"/>
            <a:ext cx="5832459" cy="43472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C4B62A-1824-7430-65F7-47243523A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512" y="1522150"/>
            <a:ext cx="5832459" cy="434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4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9527-967B-5E32-F034-EC62A696B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treatment protocols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8BBB9-F522-1713-43A0-FB2ACAC87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Failure of treatment protocol 1</a:t>
            </a:r>
          </a:p>
          <a:p>
            <a:r>
              <a:rPr lang="en-US" dirty="0"/>
              <a:t>Novel treatment protocol 2 (using Immunotherapy)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324D0-E748-3E1D-15F8-86A9A43F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AE200-8024-4115-A25C-2971A1A3152D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3D8DF-201D-1DBC-C357-5B3D0348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DD250-DD52-DAB1-C21F-A7F02CBB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01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6F30E-53C5-2058-0A9C-167F8D7B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E5C25-9AEF-7796-9C33-52756244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21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5F4CED-9128-8AC8-291A-2487F916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8672E2F7-54E6-F4E1-A5EE-DAF828BB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3095ED4-1613-0FE9-4AD9-55B1D7714843}"/>
              </a:ext>
            </a:extLst>
          </p:cNvPr>
          <p:cNvSpPr/>
          <p:nvPr/>
        </p:nvSpPr>
        <p:spPr>
          <a:xfrm>
            <a:off x="2225616" y="241540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B9D548-5B50-6499-846E-5C8908D54701}"/>
              </a:ext>
            </a:extLst>
          </p:cNvPr>
          <p:cNvSpPr/>
          <p:nvPr/>
        </p:nvSpPr>
        <p:spPr>
          <a:xfrm>
            <a:off x="2429773" y="1291087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2BD982-0AA0-31E9-F898-1B886631879D}"/>
              </a:ext>
            </a:extLst>
          </p:cNvPr>
          <p:cNvSpPr/>
          <p:nvPr/>
        </p:nvSpPr>
        <p:spPr>
          <a:xfrm>
            <a:off x="5394384" y="136525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FE5192-2B27-7D89-10F8-1ACC4AA48253}"/>
              </a:ext>
            </a:extLst>
          </p:cNvPr>
          <p:cNvSpPr/>
          <p:nvPr/>
        </p:nvSpPr>
        <p:spPr>
          <a:xfrm>
            <a:off x="4810664" y="777755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E02EA1-F8EA-8A52-01CC-A0B756C92242}"/>
              </a:ext>
            </a:extLst>
          </p:cNvPr>
          <p:cNvSpPr/>
          <p:nvPr/>
        </p:nvSpPr>
        <p:spPr>
          <a:xfrm>
            <a:off x="6127627" y="1291086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582B5C-7C11-F6D4-9B46-05E4F39A81D9}"/>
              </a:ext>
            </a:extLst>
          </p:cNvPr>
          <p:cNvSpPr/>
          <p:nvPr/>
        </p:nvSpPr>
        <p:spPr>
          <a:xfrm>
            <a:off x="5181594" y="1846052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CB29F-9720-9DE1-4816-40A90C775DF1}"/>
              </a:ext>
            </a:extLst>
          </p:cNvPr>
          <p:cNvSpPr txBox="1"/>
          <p:nvPr/>
        </p:nvSpPr>
        <p:spPr>
          <a:xfrm>
            <a:off x="8299450" y="2952157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Probabilities of transition from regular to resistant cell types (for both Stem and Cancer cells)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309164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D3FE-55DE-FF2F-5B01-5CA26F02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FD1-C421-C885-BC8E-80C77380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protocol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9139F-BACE-129D-CE38-5D44ADE6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F2023-360C-BA25-4901-DBB86C00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697D9-9637-451D-91FF-807579144C99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44EEE-FC6E-1175-7415-658D0806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262EA-7427-402A-C6A6-A90422B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964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76A54-DE3D-0603-96A7-9108729E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protocol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770E-9529-A6B2-9DD7-88CA322CD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3802F-2BE7-0DD3-50EB-85627F1B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697D9-9637-451D-91FF-807579144C99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5366-42C4-070F-31F3-960139C0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098D1-CB70-86F3-9A42-6DB40638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98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418A-27E7-0EFA-73ED-DECCCE4D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sensitivity analyses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830F5-D318-490C-BC74-ABDD29301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24790-C538-50F2-C996-0A06D4A6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2A5A-1E11-4C3D-B22F-D6FD8EA76C05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8A882-CFAA-0200-C1A4-ADBF5357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E4278-FCDA-5EBF-EBE0-EB129917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478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49E0-E3CB-6251-47F1-5DCA4935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directions </a:t>
            </a:r>
            <a:r>
              <a:rPr lang="en-US" sz="2000" dirty="0"/>
              <a:t>(aka tools I want to explore in the future`)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2DB6-6917-ACED-5C90-871006363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network topology itself to be able to comment on dynamics</a:t>
            </a:r>
          </a:p>
          <a:p>
            <a:r>
              <a:rPr lang="en-US" dirty="0"/>
              <a:t>Looking at spatiotemporal variation (simulating this on a lattice, for example?)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C84B5-705F-CECB-50CA-C9A7412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7ABC-8D9C-4B1D-AC90-C3D833619921}" type="datetime1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AD2E2-488D-3BA6-4628-C0629F1F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B16B-F1E4-0C23-A710-32CBEEF7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589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462</Words>
  <Application>Microsoft Office PowerPoint</Application>
  <PresentationFormat>Widescreen</PresentationFormat>
  <Paragraphs>106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Office Theme</vt:lpstr>
      <vt:lpstr>Semester Project Work</vt:lpstr>
      <vt:lpstr>PowerPoint Presentation</vt:lpstr>
      <vt:lpstr>Modelling TIME interactions</vt:lpstr>
      <vt:lpstr>PowerPoint Presentation</vt:lpstr>
      <vt:lpstr>PowerPoint Presentation</vt:lpstr>
      <vt:lpstr>PowerPoint Presentation</vt:lpstr>
      <vt:lpstr>A few (random) biological details (?)</vt:lpstr>
      <vt:lpstr>Tools/Methods</vt:lpstr>
      <vt:lpstr>Simulation run with default parameters</vt:lpstr>
      <vt:lpstr>PowerPoint Presentation</vt:lpstr>
      <vt:lpstr>PowerPoint Presentation</vt:lpstr>
      <vt:lpstr>PowerPoint Presentation</vt:lpstr>
      <vt:lpstr>Some population ratios</vt:lpstr>
      <vt:lpstr>PowerPoint Presentation</vt:lpstr>
      <vt:lpstr>Probabilities of cellular differentiation</vt:lpstr>
      <vt:lpstr>PowerPoint Presentation</vt:lpstr>
      <vt:lpstr>Role of the macrophage populations</vt:lpstr>
      <vt:lpstr>Oscillations at β_Th1Ck2=0.1</vt:lpstr>
      <vt:lpstr>Effect of varying μ_Th1Ck1</vt:lpstr>
      <vt:lpstr>Designing treatment protocols</vt:lpstr>
      <vt:lpstr>PowerPoint Presentation</vt:lpstr>
      <vt:lpstr>Treatment protocol 1</vt:lpstr>
      <vt:lpstr>Treatment protocol 2</vt:lpstr>
      <vt:lpstr>Parameter sensitivity analyses</vt:lpstr>
      <vt:lpstr>Possible directions (aka tools I want to explore in the future`)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Venkatesh</dc:creator>
  <cp:lastModifiedBy>Lokesh Venkatesh</cp:lastModifiedBy>
  <cp:revision>111</cp:revision>
  <dcterms:created xsi:type="dcterms:W3CDTF">2026-03-04T17:41:20Z</dcterms:created>
  <dcterms:modified xsi:type="dcterms:W3CDTF">2026-03-06T02:59:55Z</dcterms:modified>
</cp:coreProperties>
</file>